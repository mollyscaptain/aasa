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17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  <Relationship Id="rId17" Type="http://schemas.openxmlformats.org/officeDocument/2006/relationships/slide" Target="slides/slide1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Name the honest scope up front — it buys credibility for everything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to 45 seconds. The audience already believes the problem — land the last line and move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reframe from "best tool" to "what comparable teams shipped" is the product thesis. Say it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(60-75s): Customer Service / Technology / Startup / Standard / EUR 800 — a healthy match count, never a thin one on stage. Click Generate. Point at one why: line and its evidence bar. Cost tab: name the figure, then say illustrative. Cases tab: CLICK A REAL SOURCE LINK. Export tab: they leave with something for their board. FALLBACK: if the app fails, switch to screenshots and one downloaded export, say so calmly, continue.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loud: a model guessing at compliance would be the most dangerous thing this product could do — so it never does. This slide answers "how do you know the LLM is not inventing tools".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targets met, including the trust score the earlier round missed. Say the limitation out loud before anyone asks: the build changed AND the participants changed between rounds, so we do not claim our fixes raised trust from 3 to 5 — that would need the same people testing both builds. Point at the credible intervals; 100% net value has a 72-99% interval and one changed answer moves it 12.5 points. If asked who tested: 8 practitioners at 7 real companies (SumUp, BMG, CoachHub, Delivery Hero, AUTODOC, Plan A, Ordio), 5 non-native English speakers, 5 on the regulated posture — all recruited through our own networks, which is convenience sampling and plausibly inflates trust. Numbers regenerate with scripts/telemetry_funnel.py --since '2026-07-27 23:00'.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one source link during this slide. Let the audience watch a real vendor case study open. It is the single most convincing 5 seconds in the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is not that we ticked boxes — each of these was a decision with a cost. We gave up accounts and persistence to avoid holding personal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rush this slide — it is a strength, not an apology. If asked "why always the big cloud vendors", the answer is here: that is what the evidence contains, and we disclose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the hard questions explicitly — it signals we know where the weaknesses are. Expected: sample size, trust score, LLM trustworthiness, compliance safety, big-vendor bias. Answers in the Q&amp;A table of 11-P17-Pitch-Outline-v1.md.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shows we test our own work, not just the product. Walk the six steps in order — the honest beat is 04: the failure was in our test harness, which assumed anything selectable must have evidence. Then 05 is the payoff: chasing it found a banner claim that was false for 47% of possible queries, and we fixed it before submission rather than shipping it. Expect the question "how did you know to look?" — answer: we widened a passing test until it failed. Full record in Build Guide 35, 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CAPSTONE MVP  ·  2-PERSON TEAM  ·  4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AASA</a:t>
            </a:r>
            <a:pPr indent="0" marL="0">
              <a:buNone/>
            </a:pPr>
            <a:r>
              <a:rPr lang="en-US" sz="2600" b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AI-Assisted Stack Architect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teams choose their AI stack from vendor marketing and forum threads.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AASA answers the same question from 3,023 real deployments — in about five minutes,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every recommendation traceable to a real source.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3,023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CASES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47472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PRICED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12648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INDUSTRIES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778240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 min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778240" y="45902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BLUEPRINT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scope: a 4-week student prototype. Pricing is illustrative; compliance filtering is a shortlist, not certification.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an AI stack is guesswork for the people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the least room to guess.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evidence base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36499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pages claim everything. Forum threads are anecdotes. Neither tells you what teams like yours actually deployed.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7744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surprises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0" y="336499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Per-token APIs and per-seat SaaS get compared as if they price the same way. Budgets break on the difference.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37744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5603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0" y="2926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dead-ends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336499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is chosen, then found unusable for regulated data — after the integration work is done.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 the smallest teams carry the largest risk of an expensive, unwindable decision.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WHO IT IS FOR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user, one job to be done.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03520" cy="3017520"/>
          </a:xfrm>
          <a:prstGeom prst="roundRect">
            <a:avLst>
              <a:gd name="adj" fmla="val 181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USER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7249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resource-constrained founder or lead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to mid-market, no dedicated AI architect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Accountable for the budget they commit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be non-technical, or technical but time-poor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afford a consultant to de-risk the choice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303520" cy="3017520"/>
          </a:xfrm>
          <a:prstGeom prst="roundRect">
            <a:avLst>
              <a:gd name="adj" fmla="val 181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JOB TO BE DONE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72491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i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what teams like mine actually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i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— and what it will cost me."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379476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"what is the best AI tool" — that question has no answerable form. The answerable question is what comparable organisations chose, and what happened.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constraints in. A three-block blueprint out.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7040880" cy="3840480"/>
          </a:xfrm>
          <a:prstGeom prst="roundRect">
            <a:avLst>
              <a:gd name="adj" fmla="val 1429"/>
            </a:avLst>
          </a:prstGeom>
          <a:solidFill>
            <a:srgbClr val="1B1E26"/>
          </a:solidFill>
          <a:ln w="19050">
            <a:solidFill>
              <a:srgbClr val="818CF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37033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SCREENSHOT PLACEHOLDER ]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with: the generated blueprint — Stack tab,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form visible (1 · Recommended AI Stack)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01000" y="22128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FIVE 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010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366760" y="2560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+ industry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01000" y="2971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66760" y="29718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size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010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33832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posture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0100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66760" y="3794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budget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0100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66760" y="42062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exclusions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01000" y="47091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THREE BLOCKS OUT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01000" y="50292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stack, with evidence per tool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cost vs your budget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source-linked case references</a:t>
            </a:r>
            <a:endParaRPr lang="en-US" sz="1300" dirty="0"/>
          </a:p>
        </p:txBody>
      </p:sp>
      <p:sp>
        <p:nvSpPr>
          <p:cNvPr id="180" name="Text 18"/>
          <p:cNvSpPr/>
          <p:nvPr/>
        </p:nvSpPr>
        <p:spPr>
          <a:xfrm>
            <a:off x="8001000" y="61264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9AA4B2"/>
                </a:solidFill>
                <a:latin typeface="Arial" pitchFamily="34" charset="0"/>
              </a:rPr>
              <a:t>Exports as Markdown, JSON or PDF.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 — the model only writes prose.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 over 3,023 real cases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comparable deployments, not keyword matches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537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ON RELEVANCE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cases past the cutoff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537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nothing clears it the run stops — the model never summarises no evidence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113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113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posture, as a hard rule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113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before ranking, so compliance is code — not a model guess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1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61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over the matched cases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61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counting: no hand-picked winners, no weighting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537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/ seat / usage models</a:t>
            </a:r>
            <a:endParaRPr lang="en-US" sz="1250" dirty="0"/>
          </a:p>
        </p:txBody>
      </p:sp>
      <p:sp>
        <p:nvSpPr>
          <p:cNvPr id="91" name="Clone 91"/>
          <p:cNvSpPr/>
          <p:nvPr/>
        </p:nvSpPr>
        <p:spPr>
          <a:xfrm>
            <a:off x="79552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92" name="Clone 92"/>
          <p:cNvSpPr/>
          <p:nvPr/>
        </p:nvSpPr>
        <p:spPr>
          <a:xfrm>
            <a:off x="82113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93" name="Clone 93"/>
          <p:cNvSpPr/>
          <p:nvPr/>
        </p:nvSpPr>
        <p:spPr>
          <a:xfrm>
            <a:off x="82113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SUMMARISE</a:t>
            </a:r>
            <a:endParaRPr lang="en-US" sz="1500" dirty="0"/>
          </a:p>
        </p:txBody>
      </p:sp>
      <p:sp>
        <p:nvSpPr>
          <p:cNvPr id="94" name="Clone 94"/>
          <p:cNvSpPr/>
          <p:nvPr/>
        </p:nvSpPr>
        <p:spPr>
          <a:xfrm>
            <a:off x="82113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writes the paragraph</a:t>
            </a:r>
            <a:endParaRPr lang="en-US" sz="1250" dirty="0"/>
          </a:p>
        </p:txBody>
      </p:sp>
      <p:sp>
        <p:nvSpPr>
          <p:cNvPr id="95" name="Clone 95"/>
          <p:cNvSpPr/>
          <p:nvPr/>
        </p:nvSpPr>
        <p:spPr>
          <a:xfrm>
            <a:off x="82113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receives the final list, so it cannot invent tools or prices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537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by billing model, flagged against your budget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is the last and smallest step. By the time it runs, the tools and the prices are already decided by deterministic Python.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Chroma + all-MiniLM-L6-v2  ·  88.7% of cases resolve to a canonical tool  ·  relevance cutoff verified across all 432 input combinations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REAL TEST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real testers. All four targets met — and what that does not prove.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  <a:gridCol w="1920240"/>
                <a:gridCol w="265176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 CREDIBLE INTERVAL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value ("saved me research time")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≥70%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(8/8)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 – 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export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≥40%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 (10/12)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 – 93%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Compliance-rule pass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(2/2)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score (median)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≥4/5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ordinal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Avg. LLM latency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1.34s (12 calls)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0.57 / max 2.62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526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n=8 one changed answer moves a rate 12.5 points — read the intervals, not the point estimates. Trust was 3/5 in the earlier round; the build and the participants both changed, so this is no measured before/after.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52303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3949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FUNNEL   </a:t>
            </a:r>
            <a:pPr indent="0" marL="0">
              <a:buNone/>
            </a:pPr>
            <a:r>
              <a:rPr lang="en-US" sz="130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viewed a blueprint  →  10 exported it (83% of viewers)  →  8 answered the survey, 8 said it saved them research time (100%)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participants at 7 real companies · 5 non-native English speakers · 5 chose the regulated posture · all recruited via our own networks (convenience sample)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WHY YOU CAN BELIEVE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recommendation traces to a real deployment.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0" y="2194560"/>
            <a:ext cx="5486400" cy="3840480"/>
          </a:xfrm>
          <a:prstGeom prst="roundRect">
            <a:avLst>
              <a:gd name="adj" fmla="val 1429"/>
            </a:avLst>
          </a:prstGeom>
          <a:solidFill>
            <a:srgbClr val="1B1E26"/>
          </a:solidFill>
          <a:ln w="19050">
            <a:solidFill>
              <a:srgbClr val="818CF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0350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SCREENSHOT PLACEHOLDER 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0" y="4160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with: 3 · Real Case References tab</a:t>
            </a:r>
            <a:endParaRPr lang="en-US" sz="12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(showing Stack used + a Source link)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Evidence, per tool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"Seen in 5 of 14 matched cases" — the count is computed from the real matched set, not asserted.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2004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stated reason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 carries a one-line why:, and the cases that used it are one click away.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organisations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companies, real reported outcomes, original vendor source URLs.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5120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Verifiable, not trusted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44068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not asked to believe the summary. You are invited to check it.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the slide that separates a working product from a demo that could be faked — click a link live.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ETHICS &amp; DATA MINIMISATION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 choices, audited weekly.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accounts, no PII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76148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dropdowns and a number. No login, no persistent identifier, nothing stored server-side.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219456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telemetry only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53712" y="276148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names and numbers in a local file. No third-party analytics service, ever.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0" y="219456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11312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Self-hosted fonts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11312" y="276148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third-party font CDN call, so no user IP is exposed just to render the page.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43891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Disclosed dataset bias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6112" y="477316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tools are ~45% of all mentions. Published in-product, not buried in a doc.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420624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43891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fabricated trust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53712" y="477316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testimonials, badges, user counts or logos. There are none, so we show none. When our own QA claim proved wrong, we corrected it in writing rather than deleting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4206240"/>
            <a:ext cx="3383280" cy="1755648"/>
          </a:xfrm>
          <a:prstGeom prst="roundRect">
            <a:avLst>
              <a:gd name="adj" fmla="val 312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1312" y="43891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written audits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11312" y="4773168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Data-minimisation checkpoints dated for weeks 1-4, each verified against the code.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detail: PM &amp; Ethics/Ethical-Action-Plan-v2.md  ·  docs/model-card.md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KNOWN LIMITATIONS &amp;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 — and what would fix it.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881360" cy="1280160"/>
        </p:xfrm>
        <a:graphic>
          <a:graphicData uri="http://schemas.openxmlformats.org/drawingml/2006/table">
            <a:tbl>
              <a:tblPr/>
              <a:tblGrid>
                <a:gridCol w="3566160"/>
                <a:gridCol w="4206240"/>
                <a:gridCol w="3108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EXISTS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ROADMAP FIX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 is illustrative, not live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Hand-built 41-tool table; no uniform vendor pricing API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Scheduled periodic pricing sync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filter is directional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governance authority backs the classification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 / compliance review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 skews to enterprise cloud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 reflects real adoption frequency in the source library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Disclosed, not "corrected"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org-size join to case data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source dataset has no company-size field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different or joined dataset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sample is small (n=8)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testers, all our own contacts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Larger, neutral N; intervals reported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only, not mobile-tested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Streamlit gives limited responsive control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Responsive pass before release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 input pairs have no evidence at all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 of 432 workflow x industry pairs have no cases in the library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5F1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 unpopulated pairs in the dropdowns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2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Stating these is the point. A capstone that hides its gaps is a capstone nobody can trust.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Also deferred and logged: plain-language cost export, mainstream-validation overlay, seat-fraction cost scoping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prototype — and a clear next step.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303520" cy="2834640"/>
          </a:xfrm>
          <a:prstGeom prst="roundRect">
            <a:avLst>
              <a:gd name="adj" fmla="val 193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WOULD BUILD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76148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 pricing sync — kills the biggest caveat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Workflow-scoped seat costs, not survey medians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larger, properly powered validation round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/ mobile pass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2194560"/>
            <a:ext cx="5303520" cy="2834640"/>
          </a:xfrm>
          <a:prstGeom prst="roundRect">
            <a:avLst>
              <a:gd name="adj" fmla="val 1935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B3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LEARNED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2761488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beat ambition — the freeze protected the submission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code first, model last, is a design principle not a shortcut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a missed target — then not claiming credit when it passes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 you widen until it fails teaches more than one that passes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two people, in four weeks, on 3,023 real deployments.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7790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— including the hard ones about sample size.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STRESS-TESTING OUR OWN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tried to break the retrieval — and found we had over-claimed.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CUTOFF WAS ADDED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Gabi shipped a relevance threshold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961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it, every query returned 15 cases however far off they were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537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WIDENED THE TEST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hand-picked queries → all 432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537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workflow x industry pair the dropdowns can produce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2011680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1312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11312" y="245059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FAILED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1131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combinations returned nothing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11312" y="314553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in Education, Sales in Education, and three more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1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WAS WRONG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961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5 have no cases at all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961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 nothing was correct — our harness assumed otherwise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87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537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FIND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537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 of 432 pairs hold no evidence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537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Yet the banner announced “N real X Y deployments matched” for all of them</a:t>
            </a:r>
            <a:endParaRPr lang="en-US" sz="1150" dirty="0"/>
          </a:p>
        </p:txBody>
      </p:sp>
      <p:sp>
        <p:nvSpPr>
          <p:cNvPr id="191" name="QA 191"/>
          <p:cNvSpPr/>
          <p:nvPr/>
        </p:nvSpPr>
        <p:spPr>
          <a:xfrm>
            <a:off x="7955280" y="4005072"/>
            <a:ext cx="3383280" cy="1737360"/>
          </a:xfrm>
          <a:prstGeom prst="roundRect">
            <a:avLst>
              <a:gd name="adj" fmla="val 3158"/>
            </a:avLst>
          </a:prstGeom>
          <a:solidFill>
            <a:srgbClr val="1B1E26"/>
          </a:solidFill>
          <a:ln w="12700">
            <a:solidFill>
              <a:srgbClr val="2B2F3A"/>
            </a:solidFill>
            <a:prstDash val="solid"/>
          </a:ln>
        </p:spPr>
      </p:sp>
      <p:sp>
        <p:nvSpPr>
          <p:cNvPr id="192" name="QA 192"/>
          <p:cNvSpPr/>
          <p:nvPr/>
        </p:nvSpPr>
        <p:spPr>
          <a:xfrm>
            <a:off x="8211312" y="4151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93" name="QA 193"/>
          <p:cNvSpPr/>
          <p:nvPr/>
        </p:nvSpPr>
        <p:spPr>
          <a:xfrm>
            <a:off x="8211312" y="444398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AND RE-RUN</a:t>
            </a:r>
            <a:endParaRPr lang="en-US" sz="1500" dirty="0"/>
          </a:p>
        </p:txBody>
      </p:sp>
      <p:sp>
        <p:nvSpPr>
          <p:cNvPr id="194" name="QA 194"/>
          <p:cNvSpPr/>
          <p:nvPr/>
        </p:nvSpPr>
        <p:spPr>
          <a:xfrm>
            <a:off x="8211312" y="477316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5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banner names what it is</a:t>
            </a:r>
            <a:endParaRPr lang="en-US" sz="1250" dirty="0"/>
          </a:p>
        </p:txBody>
      </p:sp>
      <p:sp>
        <p:nvSpPr>
          <p:cNvPr id="195" name="QA 195"/>
          <p:cNvSpPr/>
          <p:nvPr/>
        </p:nvSpPr>
        <p:spPr>
          <a:xfrm>
            <a:off x="8211312" y="51389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9A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matches and nearest-comparable labelled apart; sweep now passes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FB3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 was in our own test, not the product — and chasing it exposed a claim false for 47% of queries.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A4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tests/distancecheck.py --full  ·  432 of 432 combinations swept  ·  0 pairs with evidence returning nothing  ·  dated in Build Guide 35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2026-07-27T12:13:12Z</dcterms:created>
  <dcterms:modified xsi:type="dcterms:W3CDTF">2026-07-27T12:13:12Z</dcterms:modified>
</cp:coreProperties>
</file>